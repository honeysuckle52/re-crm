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9" r:id="rId3"/>
    <p:sldId id="295" r:id="rId4"/>
    <p:sldId id="288" r:id="rId5"/>
    <p:sldId id="293" r:id="rId6"/>
    <p:sldId id="290" r:id="rId7"/>
    <p:sldId id="300" r:id="rId8"/>
    <p:sldId id="298" r:id="rId9"/>
    <p:sldId id="296" r:id="rId10"/>
    <p:sldId id="2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 autoAdjust="0"/>
    <p:restoredTop sz="74269" autoAdjust="0"/>
  </p:normalViewPr>
  <p:slideViewPr>
    <p:cSldViewPr snapToGrid="0">
      <p:cViewPr varScale="1">
        <p:scale>
          <a:sx n="85" d="100"/>
          <a:sy n="85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выделено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потоков данных (</a:t>
            </a:r>
            <a:r>
              <a:rPr lang="en-US" dirty="0"/>
              <a:t>DFD)</a:t>
            </a:r>
            <a:r>
              <a:rPr lang="ru-RU" dirty="0"/>
              <a:t>  -для  моделировании моделирования передачи информации (или физических компонент) из одной части в другую.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6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8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3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каждой таблице определены атрибуты и типы данных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9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 (если есть)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2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Веб-приложение «Недвижимость»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6852356" y="5137349"/>
            <a:ext cx="5339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Березин Александр Андреевич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БД-22-1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Степанов Станислав Евгеньевич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/>
              <a:t>Цель</a:t>
            </a:r>
            <a:r>
              <a:rPr lang="en-US" sz="3200" b="1" dirty="0"/>
              <a:t>, </a:t>
            </a:r>
            <a:r>
              <a:rPr lang="ru-RU" sz="3200" b="1" dirty="0"/>
              <a:t>задачи дипломного проектирования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73177" y="2017755"/>
            <a:ext cx="4951762" cy="38900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Целью дипломного проектирования 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является разработка полнофункционального, безопасного и удобного веб-приложения для автоматизации процесса продажи или аренды объекта.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9720AC8-DF0D-4A16-BF85-60B8C88DC2B2}"/>
              </a:ext>
            </a:extLst>
          </p:cNvPr>
          <p:cNvSpPr/>
          <p:nvPr/>
        </p:nvSpPr>
        <p:spPr>
          <a:xfrm>
            <a:off x="327803" y="1772399"/>
            <a:ext cx="11605972" cy="4504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1FC7043-3359-4E87-9931-90746D0AC163}"/>
              </a:ext>
            </a:extLst>
          </p:cNvPr>
          <p:cNvSpPr txBox="1">
            <a:spLocks/>
          </p:cNvSpPr>
          <p:nvPr/>
        </p:nvSpPr>
        <p:spPr>
          <a:xfrm>
            <a:off x="6353476" y="2017754"/>
            <a:ext cx="4951762" cy="40331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Для достижения поставленной цели в проекте решен следующий комплекс задач: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Проведение предпроектного исследования.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архитектуры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технического задания.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Реализация логики серверной части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пользовательского интерфейса.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и реализация реляционной базы данных.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Тестирование и отладка веб-приложения.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9220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2547489" y="170631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/>
              <a:t>Предметная область дипломного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58225" y="1613645"/>
            <a:ext cx="5737058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Предметной областью дипломного проекта является автоматизация бизнес-процессов, связанных с продажей или арендой объектов недвижимости. В проекте можно рассмотреть, управление данными об объектах, обработку сделок, взаимодействие с клиентами, выполнение задач и формирования отчётов.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24135C-C037-48A6-97A1-9BE531AC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650" y="1613645"/>
            <a:ext cx="4640841" cy="353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3582"/>
              </p:ext>
            </p:extLst>
          </p:nvPr>
        </p:nvGraphicFramePr>
        <p:xfrm>
          <a:off x="510028" y="988185"/>
          <a:ext cx="11171940" cy="5633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PyCharm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Python, html5,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css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 3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 test case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28051-7F47-42B2-BFAE-8EB79E73D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8" y="1435873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A560B2F-6441-4DC3-B119-CABEA426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117080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7550F54-4721-443D-963A-7974B927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732405"/>
            <a:ext cx="579123" cy="59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821723C-6738-488E-946A-E3EE723F4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3399817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5C31100-300F-47F5-A827-D2DC6B8B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4048548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A669291D-BBB5-4F9F-A266-E1230AD1F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990" y="4708639"/>
            <a:ext cx="520148" cy="52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20A8E02C-CEA7-44A6-987D-83BF6759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79" y="4695595"/>
            <a:ext cx="765529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4A27B70D-BDA6-4A42-8C39-A1645D284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005" y="4695595"/>
            <a:ext cx="410815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E4484859-5F05-4D3B-9940-C218C6BF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221" y="5342645"/>
            <a:ext cx="1029552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717BDF39-5B19-4154-97C1-F342A3EC10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990EA0-6BFB-4BC7-A58B-ABBF72CA49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677" y="4562459"/>
            <a:ext cx="845393" cy="8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/>
              <a:t>(</a:t>
            </a:r>
            <a:r>
              <a:rPr lang="en-US" sz="2000" dirty="0"/>
              <a:t>USES CASE)</a:t>
            </a:r>
            <a:r>
              <a:rPr lang="ru-RU" sz="2000" dirty="0"/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470111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потоков данных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dirty="0"/>
              <a:t>(</a:t>
            </a:r>
            <a:r>
              <a:rPr lang="en-US" sz="2000" dirty="0"/>
              <a:t>DFD)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183B490-2885-4AC6-BC7B-0A24649A54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16290" y="2051363"/>
            <a:ext cx="5766541" cy="41768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273D1C-29B0-4CC0-B11E-8393B0568E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6032" y="2051362"/>
            <a:ext cx="5246564" cy="4176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462" y="-402266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DA49E-30E7-40D5-9EAF-A123DB9BAA0B}"/>
              </a:ext>
            </a:extLst>
          </p:cNvPr>
          <p:cNvSpPr txBox="1"/>
          <p:nvPr/>
        </p:nvSpPr>
        <p:spPr>
          <a:xfrm>
            <a:off x="8661623" y="576969"/>
            <a:ext cx="342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Инфологическая модель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2305D2-12B9-4A84-87A1-A0B7334A047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5" y="576969"/>
            <a:ext cx="7249795" cy="6200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9065" y="0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b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8491875" y="3217254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CDD5E-167F-4D6F-BC5C-67653A818E66}"/>
              </a:ext>
            </a:extLst>
          </p:cNvPr>
          <p:cNvSpPr txBox="1"/>
          <p:nvPr/>
        </p:nvSpPr>
        <p:spPr>
          <a:xfrm>
            <a:off x="8559065" y="3617364"/>
            <a:ext cx="3796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Нормализация (НФ):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НФ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F5382B-9A25-4970-A712-51547E38BE3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338" y="101601"/>
            <a:ext cx="8248440" cy="6587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93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38" y="0"/>
            <a:ext cx="8458323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Описание таблиц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ER-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96AFFB-77DE-490F-B5BA-7F3C7489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06" y="1143000"/>
            <a:ext cx="5201376" cy="6287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5E5078-9050-4110-BCB7-75DDC54DF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06" y="1771737"/>
            <a:ext cx="5182323" cy="2343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83EF7E-7CE6-4A16-BF6F-6F707EC96714}"/>
              </a:ext>
            </a:extLst>
          </p:cNvPr>
          <p:cNvSpPr txBox="1"/>
          <p:nvPr/>
        </p:nvSpPr>
        <p:spPr>
          <a:xfrm>
            <a:off x="5787671" y="1304969"/>
            <a:ext cx="551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Одна из основных таблиц базы данных, содержащая информацию о объектах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8B1B85-0AC4-4669-B521-5ADD44863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974" y="3487917"/>
            <a:ext cx="5153744" cy="30007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3072A6-ACFD-41AE-B745-6CE5751C901D}"/>
              </a:ext>
            </a:extLst>
          </p:cNvPr>
          <p:cNvSpPr txBox="1"/>
          <p:nvPr/>
        </p:nvSpPr>
        <p:spPr>
          <a:xfrm>
            <a:off x="454899" y="5086263"/>
            <a:ext cx="551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Таблица заявок, содержащая информацию о объекте и клиенте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коротый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оформил заявку</a:t>
            </a:r>
          </a:p>
        </p:txBody>
      </p:sp>
    </p:spTree>
    <p:extLst>
      <p:ext uri="{BB962C8B-B14F-4D97-AF65-F5344CB8AC3E}">
        <p14:creationId xmlns:p14="http://schemas.microsoft.com/office/powerpoint/2010/main" val="255600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7808" y="0"/>
            <a:ext cx="3643659" cy="6997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35835"/>
              </p:ext>
            </p:extLst>
          </p:nvPr>
        </p:nvGraphicFramePr>
        <p:xfrm>
          <a:off x="351692" y="1005840"/>
          <a:ext cx="11215893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Функциональные задачи программного продукта: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Проведён анализ предметной области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Определены объекты (Продукт, Норма, Блюдо, Рецепт, Складская операция, Накладная), их атрибуты и связи.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Выбраны и обоснованы инструменты реализации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Python, PySide6, SQLite,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SQLAlchemy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ReportLab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OpenPyXL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pytest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Составлено техническое задание по ГОСТ 34.602-2020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Отражены функциональные требования, требования к ПО, безопасности и тестированию.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Выполнено проектирование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Разработана архитектура локального монолитного приложения (MVC).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Построены диаграммы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Case и DFD.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Спроектирована база данных (15 таблиц, 3НФ, ER-модель).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Созданы прототипы 7 окон пользовательского интерфейса.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Разработан программный продукт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Десктоп-приложение «СУПО» с полным циклом учёта питания и складских операций.</a:t>
                      </a:r>
                      <a:endParaRPr lang="ru-RU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21AFB60-0216-4FC8-B3C7-5348BCD2C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76179"/>
              </p:ext>
            </p:extLst>
          </p:nvPr>
        </p:nvGraphicFramePr>
        <p:xfrm>
          <a:off x="351692" y="644057"/>
          <a:ext cx="11215893" cy="60076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65380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Виды деятельности: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</a:rPr>
                        <a:t>Функциональные задачи программного продукта:</a:t>
                      </a:r>
                      <a:endParaRPr lang="ru-RU" sz="140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Проведён анализ предметной области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 defTabSz="914400" rtl="0" eaLnBrk="1" latinLnBrk="0" hangingPunct="1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effectLst/>
                        </a:rPr>
                        <a:t>Определены объекты (Объекты, заявки, задачи, сделки, клиент), их атрибуты и связи. Выявлены роли: администратор, менеджер, клиент, агент.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4679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Выбраны и обоснованы инструменты реализации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US" sz="1400" kern="1200" dirty="0">
                          <a:effectLst/>
                        </a:rPr>
                        <a:t>Python, Django, PostgreSQL, </a:t>
                      </a:r>
                      <a:r>
                        <a:rPr lang="en-US" sz="1400" kern="1200" dirty="0" err="1">
                          <a:effectLst/>
                        </a:rPr>
                        <a:t>DaData</a:t>
                      </a:r>
                      <a:r>
                        <a:rPr lang="en-US" sz="1400" kern="1200" dirty="0">
                          <a:effectLst/>
                        </a:rPr>
                        <a:t>, HTML5, CSS3, Vue, </a:t>
                      </a:r>
                      <a:r>
                        <a:rPr lang="en-US" sz="1400" kern="1200" dirty="0" err="1">
                          <a:effectLst/>
                        </a:rPr>
                        <a:t>pytest</a:t>
                      </a:r>
                      <a:r>
                        <a:rPr lang="en-US" sz="1400" kern="1200" dirty="0">
                          <a:effectLst/>
                        </a:rPr>
                        <a:t>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Составлено техническое задание по ГОСТ 34.602-2020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effectLst/>
                        </a:rPr>
                        <a:t>Отражены функциональные требования, требования к ПО, безопасности и тестированию.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14614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Выполнено проектирование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l"/>
                      <a:r>
                        <a:rPr lang="ru-RU" sz="1400" kern="1200" dirty="0">
                          <a:effectLst/>
                        </a:rPr>
                        <a:t>Разработана архитектура клиент-серверного веб-приложения с использованием шаблона MVT. Построены диаграммы </a:t>
                      </a:r>
                      <a:r>
                        <a:rPr lang="ru-RU" sz="1400" kern="1200" dirty="0" err="1">
                          <a:effectLst/>
                        </a:rPr>
                        <a:t>Use</a:t>
                      </a:r>
                      <a:r>
                        <a:rPr lang="ru-RU" sz="1400" kern="1200" dirty="0">
                          <a:effectLst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</a:rPr>
                        <a:t>Case</a:t>
                      </a:r>
                      <a:r>
                        <a:rPr lang="ru-RU" sz="1400" kern="1200" dirty="0">
                          <a:effectLst/>
                        </a:rPr>
                        <a:t> и DFD. Спроектирована база данных (</a:t>
                      </a:r>
                      <a:r>
                        <a:rPr lang="en-US" sz="1400" kern="1200" dirty="0">
                          <a:effectLst/>
                        </a:rPr>
                        <a:t>51</a:t>
                      </a:r>
                      <a:r>
                        <a:rPr lang="ru-RU" sz="1400" kern="1200" dirty="0">
                          <a:effectLst/>
                        </a:rPr>
                        <a:t> таблиц, 3НФ, ER-модель).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Разработан программный продукт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effectLst/>
                        </a:rPr>
                        <a:t>Веб-приложение «Недвижимость» с полным циклом </a:t>
                      </a:r>
                      <a:r>
                        <a:rPr lang="ru-RU" sz="1400" kern="1200">
                          <a:effectLst/>
                        </a:rPr>
                        <a:t>и удобством </a:t>
                      </a:r>
                      <a:r>
                        <a:rPr lang="ru-RU" sz="1400" kern="1200" dirty="0">
                          <a:effectLst/>
                        </a:rPr>
                        <a:t>использования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Проведено тестирование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effectLst/>
                        </a:rPr>
                        <a:t>7 сценариев (6 функциональных + 1 GUI). Все сценарии выполнены успешно. Использован </a:t>
                      </a:r>
                      <a:r>
                        <a:rPr lang="ru-RU" sz="1400" kern="1200" dirty="0" err="1">
                          <a:effectLst/>
                        </a:rPr>
                        <a:t>pytest</a:t>
                      </a:r>
                      <a:r>
                        <a:rPr lang="ru-RU" sz="1400" kern="1200" dirty="0">
                          <a:effectLst/>
                        </a:rPr>
                        <a:t>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857548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kern="1200" dirty="0">
                          <a:effectLst/>
                        </a:rPr>
                        <a:t>Разработана документация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 defTabSz="914400" rtl="0" eaLnBrk="1" latinLnBrk="0" hangingPunct="1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effectLst/>
                        </a:rPr>
                        <a:t>Пояснительная записка, руководство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r>
                        <a:rPr lang="ru-RU" sz="1400" kern="1200" dirty="0">
                          <a:effectLst/>
                        </a:rPr>
                        <a:t>клиента, руководство агента, руководство менеджера, руководство администратора, инструкция по установке и настройке.</a:t>
                      </a:r>
                      <a:endParaRPr lang="ru-RU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51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915</Words>
  <Application>Microsoft Office PowerPoint</Application>
  <PresentationFormat>Широкоэкранный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программного продукта</vt:lpstr>
      <vt:lpstr>Проектирование базы данных</vt:lpstr>
      <vt:lpstr>Проектирование  базы данных</vt:lpstr>
      <vt:lpstr>Описание таблиц ER- модели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marko.diyas.1990@mail.ru</cp:lastModifiedBy>
  <cp:revision>66</cp:revision>
  <dcterms:created xsi:type="dcterms:W3CDTF">2023-05-28T07:05:17Z</dcterms:created>
  <dcterms:modified xsi:type="dcterms:W3CDTF">2026-06-19T18:42:21Z</dcterms:modified>
</cp:coreProperties>
</file>