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99" r:id="rId3"/>
    <p:sldId id="295" r:id="rId4"/>
    <p:sldId id="288" r:id="rId5"/>
    <p:sldId id="293" r:id="rId6"/>
    <p:sldId id="290" r:id="rId7"/>
    <p:sldId id="300" r:id="rId8"/>
    <p:sldId id="298" r:id="rId9"/>
    <p:sldId id="296" r:id="rId10"/>
    <p:sldId id="29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17" autoAdjust="0"/>
    <p:restoredTop sz="74269" autoAdjust="0"/>
  </p:normalViewPr>
  <p:slideViewPr>
    <p:cSldViewPr snapToGrid="0">
      <p:cViewPr varScale="1">
        <p:scale>
          <a:sx n="121" d="100"/>
          <a:sy n="121" d="100"/>
        </p:scale>
        <p:origin x="13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89266-1B27-4525-B165-AD1A73342BE1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F4460-6503-445B-8A56-0254AB65E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5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Здравствуйте, уважаемая комиссия! Тема дипломного проекта ……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2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Целью дипломного проектирования является создание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 </a:t>
            </a:r>
            <a:r>
              <a:rPr lang="ru-RU" sz="1200" b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дипломного проектирования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представлены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…….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Функциональные задачи программного продукта: …….</a:t>
            </a:r>
            <a:endParaRPr lang="ru-RU" sz="1200" b="0" dirty="0">
              <a:solidFill>
                <a:schemeClr val="accent1"/>
              </a:solidFill>
              <a:effectLst/>
              <a:highlight>
                <a:srgbClr val="FFFF00"/>
              </a:highlight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Данная тема актуальна на сегодняшний момент времени, так как …… (если есть)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50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Предметной областью   веб-приложения является….  (если есть)</a:t>
            </a:r>
          </a:p>
          <a:p>
            <a:r>
              <a:rPr lang="ru-RU" dirty="0"/>
              <a:t>Это….. </a:t>
            </a:r>
            <a:endParaRPr lang="en-US" dirty="0"/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73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представлены инструментальные средства для разработки программного продукта, 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...... (клиент-серверная; )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клиента использовалось веб инструменты: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сервера использовалось: …… 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проектирования….. Использовались …. Для……..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ПРОСТО ПЕРЕЧИСЛИТЬ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9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dirty="0"/>
              <a:t>На этапе функционального проектирования программного продукта построены диаграммы </a:t>
            </a:r>
          </a:p>
          <a:p>
            <a:pPr algn="l"/>
            <a:r>
              <a:rPr lang="ru-RU" dirty="0"/>
              <a:t>вариантов использования (</a:t>
            </a:r>
            <a:r>
              <a:rPr lang="en-US" dirty="0"/>
              <a:t>USES CASE)</a:t>
            </a:r>
            <a:r>
              <a:rPr lang="ru-RU" dirty="0"/>
              <a:t> на которой выделено … (вставить) … ролей .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Диаграмма потоков данных (</a:t>
            </a:r>
            <a:r>
              <a:rPr lang="en-US" dirty="0"/>
              <a:t>DFD)</a:t>
            </a:r>
            <a:r>
              <a:rPr lang="ru-RU" dirty="0"/>
              <a:t>  -для  моделировании моделирования передачи информации (или физических компонент) из одной части в другую.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60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 базы данных, была построена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Инфологическая модель представляет информацию, которая дальше будет заложена в базу данных (сущности, атрибуты, связи).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Далее построена ER-модель базы данных ……., которая содержит …..(вставить количество)  таблиц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База данных доведена до …. (вставить)  нормальной формы 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88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 базы данных, была построена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Инфологическая модель представляет информацию, которая дальше будет заложена в базу данных (сущности, атрибуты, связи).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Далее построена ER-модель базы данных ……., которая содержит …..(вставить количество)  таблиц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База данных доведена до …. (вставить)  нормальной формы 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34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каждой таблице определены атрибуты и типы данных 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39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Демонстрация программного продукта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При работе выделены … (количество)  ролей, (назвать кто ) ….</a:t>
            </a:r>
          </a:p>
          <a:p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демонстрируем под заявленный функционал каждой роли (открыть в разных браузерах заранее) (если есть)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72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Таким образом в процессе дипломного проектирования продемонстрирован ….(вставить вид деятельности) в части реализации функционала …..(вставить) , </a:t>
            </a:r>
          </a:p>
          <a:p>
            <a:r>
              <a:rPr lang="ru-RU" dirty="0"/>
              <a:t>также было выполнено …… (вставить вид деятельности) через (…..вставить) , </a:t>
            </a:r>
          </a:p>
          <a:p>
            <a:endParaRPr lang="ru-RU" dirty="0"/>
          </a:p>
          <a:p>
            <a:r>
              <a:rPr lang="ru-RU" dirty="0"/>
              <a:t>В результате все цели (функциональные задачи) достигнуты (выполнены). </a:t>
            </a:r>
          </a:p>
          <a:p>
            <a:endParaRPr lang="ru-RU" dirty="0"/>
          </a:p>
          <a:p>
            <a:r>
              <a:rPr lang="ru-RU" dirty="0"/>
              <a:t>Спасибо.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5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B4493-E3C8-4013-ABF2-C703136AD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3EEDF8-475E-477C-A987-9B23A9803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BE86E1-9F5F-4CEA-9D81-1F2C8E07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BC3810-D6CA-4B12-8AA5-7DF5CF3D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9063BE-EA16-48A3-8992-B29920A9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57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051D6-DACB-4E1D-B3E0-21F301A0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31C8D4-6D3B-47D5-8ECA-4F425CA30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3EBD8D-49BF-4A85-BA57-68ACD048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18BAA-0EBC-4340-9638-224B4EAB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A35976-5D74-40E0-B296-CE85083F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50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989C5-6A8D-4F34-9C66-848ABDAD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22CCB1-09A5-4E67-BCED-44887574F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591265-AA85-4038-980E-0E4D6AC2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59D130-0296-4360-ADC0-0EEDB20F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F94C0C-4CED-4A84-A745-4ED26194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505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F1C38-6D54-43A4-9A28-970F3680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D84946-3751-48EB-9B3F-73DBB7897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62CF63-5B79-45B2-B784-CE7648A1B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C32103-57A4-490F-A727-8370FC70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4ACB28-912D-46D0-9020-F3461B91B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EDB07B-116C-495A-A810-C2CA4898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07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3607E-AEE7-45E8-973F-C6A0F44E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8246A5-1EA2-4060-88B9-AEEF4D4BA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B82C7B-9FB3-42C3-B7F9-D83006499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F208E3-7A6B-44D3-AAE0-436FC7D3D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BEA751-75E2-4770-AC4C-ABDE479A7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C2F5611-7733-484E-B406-9B1D29C9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E223BB-96A8-4AA5-BDC6-57A8ECBA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96D070-498B-4DC0-BD7D-0D38BAB0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7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8CAC72-5242-47A2-8742-679E93210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1C6E1FF-3A97-4325-8E27-8C31D4BC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E619FB1-8673-4A00-BB46-FEE2384C2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0E1D98-B347-40A5-A48A-99A25F2B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51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D3D4373-5614-495A-A779-7A5B480A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D325AA6-96C1-4630-B4DE-BC098226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F2DB7E-3440-41AF-915A-C05E90C7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89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CD6E2C-BCA5-41E4-892B-2B8A35CD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BABE5-695C-4FC0-8127-36E6EF69E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FCF46C-D2D9-45FE-B285-2BEFDBA83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008DD-915F-4D6B-9B4C-5ADD4E2C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79F4DB-73B0-4276-897E-D7ABFC42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385446-C9EA-40EB-ACC5-3DE52791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66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0478C-6799-43DC-97FA-9113AFCB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FE25A-252C-487C-AD6C-CE86A769D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1453A1-AD3C-47A3-9BB6-8A5066112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20D80D-D7EB-4833-8538-CC4E43070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705F5C-D657-4864-A677-2C6394448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B13AE1-764F-405F-BD36-3EEF63317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067077-9B49-47B9-A5FE-80CD7FA38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3BF900-CE03-4A93-8FF9-2AA3ADEC7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AA9DC2-1C89-4838-9CDF-84897948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EB5615-1957-41FA-A180-3CC494ED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583B74-F5C4-4A0F-9A7B-44261E1E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16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81D8D13-5A14-4577-BF7A-F20310C58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62C0B2-95FF-43B8-AC2D-08DD1E50D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B28C0F-C092-4F04-9B00-B43B2B15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94C4DC-42C2-4D75-BE1B-ED3AAB95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95503A-4B2D-49DD-9141-91EF78BF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63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A723B-5719-4EEA-B777-EAF3DA7FDF21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A5C1-EBA6-4D9B-83CC-431CB510693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883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2CF29-2723-4C42-8522-1A6544C4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B6F97B-9842-48C5-BF92-7072EB4B4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D38571-CFC5-4622-B376-FD998376A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76DA3-B598-4B8A-8255-3391DDF783A7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B80B3E-3EC7-431D-B69D-1ABB7A9AD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C3BBBD-9C88-4C2B-BC40-290AFD477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321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7F0CE69-87EB-4A20-A6B5-BB5F26E30EFE}"/>
              </a:ext>
            </a:extLst>
          </p:cNvPr>
          <p:cNvSpPr txBox="1">
            <a:spLocks/>
          </p:cNvSpPr>
          <p:nvPr/>
        </p:nvSpPr>
        <p:spPr>
          <a:xfrm>
            <a:off x="2956347" y="2166319"/>
            <a:ext cx="6279306" cy="22331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/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Дипломный проект </a:t>
            </a:r>
          </a:p>
          <a:p>
            <a:pPr marL="182880"/>
            <a:endParaRPr lang="ru-RU" sz="4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/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Веб-приложение «Недвижимость»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5634B-476B-4A2F-BF93-37FB94D1551F}"/>
              </a:ext>
            </a:extLst>
          </p:cNvPr>
          <p:cNvSpPr txBox="1"/>
          <p:nvPr/>
        </p:nvSpPr>
        <p:spPr>
          <a:xfrm>
            <a:off x="3273112" y="328071"/>
            <a:ext cx="56457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образовательное учреждение Иркутской области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«Иркутский авиационный техникум»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(ГБПОУИО «ИАТ»)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D5ABF-E9F4-4772-9280-5F7BA2804737}"/>
              </a:ext>
            </a:extLst>
          </p:cNvPr>
          <p:cNvSpPr txBox="1"/>
          <p:nvPr/>
        </p:nvSpPr>
        <p:spPr>
          <a:xfrm>
            <a:off x="6852356" y="5137349"/>
            <a:ext cx="5339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Выполнил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Березин Александр Андреевич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Группа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БД-22-1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Степанов Станислав Евгеньевич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5E94D-A645-4282-9D38-7B7D367B8784}"/>
              </a:ext>
            </a:extLst>
          </p:cNvPr>
          <p:cNvSpPr txBox="1"/>
          <p:nvPr/>
        </p:nvSpPr>
        <p:spPr>
          <a:xfrm>
            <a:off x="9731159" y="55990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01F7D-6C97-4306-9332-2700335BDBB5}"/>
              </a:ext>
            </a:extLst>
          </p:cNvPr>
          <p:cNvSpPr txBox="1"/>
          <p:nvPr/>
        </p:nvSpPr>
        <p:spPr>
          <a:xfrm>
            <a:off x="5356310" y="634526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Иркутск 2026</a:t>
            </a:r>
          </a:p>
        </p:txBody>
      </p:sp>
    </p:spTree>
    <p:extLst>
      <p:ext uri="{BB962C8B-B14F-4D97-AF65-F5344CB8AC3E}">
        <p14:creationId xmlns:p14="http://schemas.microsoft.com/office/powerpoint/2010/main" val="276148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1778575" y="232584"/>
            <a:ext cx="8634849" cy="14323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/>
              <a:t>Цель</a:t>
            </a:r>
            <a:r>
              <a:rPr lang="en-US" sz="3200" b="1" dirty="0"/>
              <a:t>, </a:t>
            </a:r>
            <a:r>
              <a:rPr lang="ru-RU" sz="3200" b="1" dirty="0"/>
              <a:t>задачи дипломного проектирования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773177" y="2017755"/>
            <a:ext cx="4951762" cy="389006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Целью дипломного проектирования 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является разработка полнофункционального, безопасного и удобного веб-приложения для автоматизации процесса продажи или аренды объекта.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9720AC8-DF0D-4A16-BF85-60B8C88DC2B2}"/>
              </a:ext>
            </a:extLst>
          </p:cNvPr>
          <p:cNvSpPr/>
          <p:nvPr/>
        </p:nvSpPr>
        <p:spPr>
          <a:xfrm>
            <a:off x="327803" y="1772399"/>
            <a:ext cx="11605972" cy="450489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D1FC7043-3359-4E87-9931-90746D0AC163}"/>
              </a:ext>
            </a:extLst>
          </p:cNvPr>
          <p:cNvSpPr txBox="1">
            <a:spLocks/>
          </p:cNvSpPr>
          <p:nvPr/>
        </p:nvSpPr>
        <p:spPr>
          <a:xfrm>
            <a:off x="6353476" y="2017754"/>
            <a:ext cx="4951762" cy="40331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Для достижения поставленной цели в проекте решен следующий комплекс задач: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Проведение предпроектного исследования.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Проектирование архитектуры веб-приложения.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Разработка технического задания.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Реализация логики серверной части веб-приложения.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Разработка пользовательского интерфейса.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Проектирование и реализация реляционной базы данных.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800" dirty="0"/>
              <a:t>Тестирование и отладка веб-приложения.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392206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2547489" y="170631"/>
            <a:ext cx="863484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/>
              <a:t>Предметная область дипломного проекта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258225" y="1613645"/>
            <a:ext cx="5737058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Предметной областью дипломного проекта является автоматизация бизнес-процессов, связанных с продажей или арендой объектов недвижимости. В проекте можно рассмотреть, управление данными об объектах, обработку сделок, взаимодействие с клиентами, выполнение задач и формирования отчётов.</a:t>
            </a: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D6FD72F-91C7-4F3D-B4FA-3362BA398D1C}"/>
              </a:ext>
            </a:extLst>
          </p:cNvPr>
          <p:cNvSpPr txBox="1">
            <a:spLocks/>
          </p:cNvSpPr>
          <p:nvPr/>
        </p:nvSpPr>
        <p:spPr>
          <a:xfrm>
            <a:off x="6604486" y="1462655"/>
            <a:ext cx="5507001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65100" lvl="0" indent="0" algn="just">
              <a:spcAft>
                <a:spcPts val="0"/>
              </a:spcAft>
              <a:buNone/>
            </a:pPr>
            <a:endParaRPr lang="ru-RU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924135C-C037-48A6-97A1-9BE531AC8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650" y="1613645"/>
            <a:ext cx="4640841" cy="353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64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9CFF2710-5C29-443A-A696-F9786282AB5C}"/>
              </a:ext>
            </a:extLst>
          </p:cNvPr>
          <p:cNvSpPr txBox="1">
            <a:spLocks/>
          </p:cNvSpPr>
          <p:nvPr/>
        </p:nvSpPr>
        <p:spPr>
          <a:xfrm>
            <a:off x="1699404" y="-100195"/>
            <a:ext cx="928202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Инструментальные средства разработки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B48BD70D-31AF-4588-958D-B470BEDBD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263582"/>
              </p:ext>
            </p:extLst>
          </p:nvPr>
        </p:nvGraphicFramePr>
        <p:xfrm>
          <a:off x="510028" y="988185"/>
          <a:ext cx="11171940" cy="56334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3980">
                  <a:extLst>
                    <a:ext uri="{9D8B030D-6E8A-4147-A177-3AD203B41FA5}">
                      <a16:colId xmlns:a16="http://schemas.microsoft.com/office/drawing/2014/main" val="489332136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699667990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359732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Этап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Изображение (логотип)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Название инструмента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68126"/>
                  </a:ext>
                </a:extLst>
              </a:tr>
              <a:tr h="71212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программного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Draw.io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065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MySQL Workbench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79013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Реализация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PostgreSQL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248937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интерфейса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Draw.io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6054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среда разработки)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PyCharm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0058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Python, html5,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css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Vue 3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000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Разработка(фреймворки)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Django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061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Django test case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27718"/>
                  </a:ext>
                </a:extLst>
              </a:tr>
            </a:tbl>
          </a:graphicData>
        </a:graphic>
      </p:graphicFrame>
      <p:sp>
        <p:nvSpPr>
          <p:cNvPr id="6" name="AutoShape 4" descr="Visual Studio Code Logo Vector SVG Icon - SVG Repo">
            <a:extLst>
              <a:ext uri="{FF2B5EF4-FFF2-40B4-BE49-F238E27FC236}">
                <a16:creationId xmlns:a16="http://schemas.microsoft.com/office/drawing/2014/main" id="{FD79F5A1-B225-4765-B243-43A7D0327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F444B-5BC2-419D-85AC-7F8C28A447C8}"/>
              </a:ext>
            </a:extLst>
          </p:cNvPr>
          <p:cNvSpPr txBox="1"/>
          <p:nvPr/>
        </p:nvSpPr>
        <p:spPr>
          <a:xfrm>
            <a:off x="11646716" y="6421554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3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428051-7F47-42B2-BFAE-8EB79E73D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38" y="1435873"/>
            <a:ext cx="579123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A560B2F-6441-4DC3-B119-CABEA426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36" y="2117080"/>
            <a:ext cx="579123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F7550F54-4721-443D-963A-7974B927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36" y="2732405"/>
            <a:ext cx="579123" cy="597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9821723C-6738-488E-946A-E3EE723F4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36" y="3399817"/>
            <a:ext cx="579123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45C31100-300F-47F5-A827-D2DC6B8B0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36" y="4048548"/>
            <a:ext cx="579123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A669291D-BBB5-4F9F-A266-E1230AD1F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990" y="4708639"/>
            <a:ext cx="520148" cy="52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20A8E02C-CEA7-44A6-987D-83BF67592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79" y="4695595"/>
            <a:ext cx="765529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4A27B70D-BDA6-4A42-8C39-A1645D284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005" y="4695595"/>
            <a:ext cx="410815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>
            <a:extLst>
              <a:ext uri="{FF2B5EF4-FFF2-40B4-BE49-F238E27FC236}">
                <a16:creationId xmlns:a16="http://schemas.microsoft.com/office/drawing/2014/main" id="{E4484859-5F05-4D3B-9940-C218C6BFB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221" y="5342645"/>
            <a:ext cx="1029552" cy="57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Picture background">
            <a:extLst>
              <a:ext uri="{FF2B5EF4-FFF2-40B4-BE49-F238E27FC236}">
                <a16:creationId xmlns:a16="http://schemas.microsoft.com/office/drawing/2014/main" id="{717BDF39-5B19-4154-97C1-F342A3EC10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5990EA0-6BFB-4BC7-A58B-ABBF72CA49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677" y="4562459"/>
            <a:ext cx="845393" cy="84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2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675" y="223148"/>
            <a:ext cx="8928586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программного продукта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9F4FE-3FA8-43BD-A563-A96EBAA4E414}"/>
              </a:ext>
            </a:extLst>
          </p:cNvPr>
          <p:cNvSpPr txBox="1"/>
          <p:nvPr/>
        </p:nvSpPr>
        <p:spPr>
          <a:xfrm>
            <a:off x="1095160" y="1248389"/>
            <a:ext cx="46674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вариантов использования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/>
              <a:t>(</a:t>
            </a:r>
            <a:r>
              <a:rPr lang="en-US" sz="2000" dirty="0"/>
              <a:t>USES CASE)</a:t>
            </a:r>
            <a:r>
              <a:rPr lang="ru-RU" sz="2000" dirty="0"/>
              <a:t>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595D4-F499-48D9-89D6-2569A1ADA379}"/>
              </a:ext>
            </a:extLst>
          </p:cNvPr>
          <p:cNvSpPr txBox="1"/>
          <p:nvPr/>
        </p:nvSpPr>
        <p:spPr>
          <a:xfrm>
            <a:off x="6470111" y="1248389"/>
            <a:ext cx="46674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Диаграмма потоков данных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000" dirty="0"/>
              <a:t>(</a:t>
            </a:r>
            <a:r>
              <a:rPr lang="en-US" sz="2000" dirty="0"/>
              <a:t>DFD)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183B490-2885-4AC6-BC7B-0A24649A54A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16290" y="2051363"/>
            <a:ext cx="5766541" cy="41768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273D1C-29B0-4CC0-B11E-8393B0568E9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16032" y="2051362"/>
            <a:ext cx="5246564" cy="41768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677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7462" y="-402266"/>
            <a:ext cx="7189575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базы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5DA49E-30E7-40D5-9EAF-A123DB9BAA0B}"/>
              </a:ext>
            </a:extLst>
          </p:cNvPr>
          <p:cNvSpPr txBox="1"/>
          <p:nvPr/>
        </p:nvSpPr>
        <p:spPr>
          <a:xfrm>
            <a:off x="8661623" y="576969"/>
            <a:ext cx="3425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Инфологическая модель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92305D2-12B9-4A84-87A1-A0B7334A047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25" y="576969"/>
            <a:ext cx="7249795" cy="6200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4169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9065" y="0"/>
            <a:ext cx="7189575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</a:t>
            </a:r>
            <a:b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базы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9F4FE-3FA8-43BD-A563-A96EBAA4E414}"/>
              </a:ext>
            </a:extLst>
          </p:cNvPr>
          <p:cNvSpPr txBox="1"/>
          <p:nvPr/>
        </p:nvSpPr>
        <p:spPr>
          <a:xfrm>
            <a:off x="8491875" y="3217254"/>
            <a:ext cx="242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ER-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DCDD5E-167F-4D6F-BC5C-67653A818E66}"/>
              </a:ext>
            </a:extLst>
          </p:cNvPr>
          <p:cNvSpPr txBox="1"/>
          <p:nvPr/>
        </p:nvSpPr>
        <p:spPr>
          <a:xfrm>
            <a:off x="8559065" y="3617364"/>
            <a:ext cx="37968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Нормализация (НФ):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НФ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CF5382B-9A25-4970-A712-51547E38BE3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5338" y="101601"/>
            <a:ext cx="8248440" cy="6587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8939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38" y="0"/>
            <a:ext cx="8458323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Описание таблиц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ER- 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модели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6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96AFFB-77DE-490F-B5BA-7F3C74896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06" y="1143000"/>
            <a:ext cx="5201376" cy="62873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65E5078-9050-4110-BCB7-75DDC54DFE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1" t="417" b="1"/>
          <a:stretch/>
        </p:blipFill>
        <p:spPr>
          <a:xfrm>
            <a:off x="179022" y="1771737"/>
            <a:ext cx="5153744" cy="23337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83EF7E-7CE6-4A16-BF6F-6F707EC96714}"/>
              </a:ext>
            </a:extLst>
          </p:cNvPr>
          <p:cNvSpPr txBox="1"/>
          <p:nvPr/>
        </p:nvSpPr>
        <p:spPr>
          <a:xfrm>
            <a:off x="5787671" y="1304969"/>
            <a:ext cx="551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Одна из основных таблиц базы данных, содержащая информацию о объектах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B8B1B85-0AC4-4669-B521-5ADD44863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974" y="3487917"/>
            <a:ext cx="5153744" cy="300079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3072A6-ACFD-41AE-B745-6CE5751C901D}"/>
              </a:ext>
            </a:extLst>
          </p:cNvPr>
          <p:cNvSpPr txBox="1"/>
          <p:nvPr/>
        </p:nvSpPr>
        <p:spPr>
          <a:xfrm>
            <a:off x="454899" y="5086263"/>
            <a:ext cx="551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Таблица заявок, содержащая информацию о объекте и клиенте который оформил заявку</a:t>
            </a:r>
          </a:p>
        </p:txBody>
      </p:sp>
    </p:spTree>
    <p:extLst>
      <p:ext uri="{BB962C8B-B14F-4D97-AF65-F5344CB8AC3E}">
        <p14:creationId xmlns:p14="http://schemas.microsoft.com/office/powerpoint/2010/main" val="255600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0BC0C-F276-4244-A7CD-BD0F4DCD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779" y="2886256"/>
            <a:ext cx="10515600" cy="1325563"/>
          </a:xfrm>
        </p:spPr>
        <p:txBody>
          <a:bodyPr/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Демонстрация дипломного продукта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BD571-39F3-4865-BB27-AA37ACFF1329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6539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03DB970B-9C80-46DC-8E32-7C5FC800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7808" y="0"/>
            <a:ext cx="3643659" cy="6997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2937D-A278-4C52-9A34-EB4FF55CE159}"/>
              </a:ext>
            </a:extLst>
          </p:cNvPr>
          <p:cNvSpPr txBox="1"/>
          <p:nvPr/>
        </p:nvSpPr>
        <p:spPr>
          <a:xfrm>
            <a:off x="11567585" y="637876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>
                <a:solidFill>
                  <a:schemeClr val="accent1"/>
                </a:solidFill>
              </a:rPr>
              <a:t>8</a:t>
            </a:r>
            <a:endParaRPr lang="ru-RU" sz="2000" b="1" dirty="0">
              <a:solidFill>
                <a:schemeClr val="accent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F3AF087-7F16-4D4B-BE0E-647816F63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535835"/>
              </p:ext>
            </p:extLst>
          </p:nvPr>
        </p:nvGraphicFramePr>
        <p:xfrm>
          <a:off x="351692" y="1005840"/>
          <a:ext cx="11215893" cy="324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4373">
                  <a:extLst>
                    <a:ext uri="{9D8B030D-6E8A-4147-A177-3AD203B41FA5}">
                      <a16:colId xmlns:a16="http://schemas.microsoft.com/office/drawing/2014/main" val="768004564"/>
                    </a:ext>
                  </a:extLst>
                </a:gridCol>
                <a:gridCol w="6041520">
                  <a:extLst>
                    <a:ext uri="{9D8B030D-6E8A-4147-A177-3AD203B41FA5}">
                      <a16:colId xmlns:a16="http://schemas.microsoft.com/office/drawing/2014/main" val="2476489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Виды деятельности: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Функциональные задачи программного продукта:</a:t>
                      </a:r>
                      <a:endParaRPr lang="ru-RU" sz="1400" b="0" dirty="0"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19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Проведён анализ предметной области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Определены объекты (Продукт, Норма, Блюдо, Рецепт, Складская операция, Накладная), их атрибуты и связи.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4808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Выбраны и обоснованы инструменты реализации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Python, PySide6, SQLite,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SQLAlchemy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ReportLab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OpenPyXL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pytest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32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Составлено техническое задание по ГОСТ 34.602-2020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Отражены функциональные требования, требования к ПО, безопасности и тестированию.</a:t>
                      </a:r>
                      <a:endParaRPr lang="ru-RU" sz="1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231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Выполнено проектирование</a:t>
                      </a:r>
                      <a:endParaRPr lang="ru-RU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1" indent="0" algn="l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Разработана архитектура локального монолитного приложения (MVC).</a:t>
                      </a:r>
                    </a:p>
                    <a:p>
                      <a:pPr marL="0" lvl="1" indent="0" algn="l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Построены диаграммы </a:t>
                      </a:r>
                      <a:r>
                        <a:rPr lang="ru-RU" sz="14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</a:t>
                      </a: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Case и DFD.</a:t>
                      </a:r>
                    </a:p>
                    <a:p>
                      <a:pPr marL="0" lvl="1" indent="0" algn="l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Спроектирована база данных (15 таблиц, 3НФ, ER-модель).</a:t>
                      </a:r>
                    </a:p>
                    <a:p>
                      <a:pPr marL="0" lvl="1" indent="0" algn="l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Созданы прототипы 7 окон пользовательского интерфейса.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676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Разработан программный продукт</a:t>
                      </a:r>
                      <a:endParaRPr lang="ru-RU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Десктоп-приложение «СУПО» с полным циклом учёта питания и складских операций.</a:t>
                      </a:r>
                      <a:endParaRPr lang="ru-RU" sz="14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4815917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21AFB60-0216-4FC8-B3C7-5348BCD2C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636677"/>
              </p:ext>
            </p:extLst>
          </p:nvPr>
        </p:nvGraphicFramePr>
        <p:xfrm>
          <a:off x="351692" y="644057"/>
          <a:ext cx="11215893" cy="596743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174373">
                  <a:extLst>
                    <a:ext uri="{9D8B030D-6E8A-4147-A177-3AD203B41FA5}">
                      <a16:colId xmlns:a16="http://schemas.microsoft.com/office/drawing/2014/main" val="768004564"/>
                    </a:ext>
                  </a:extLst>
                </a:gridCol>
                <a:gridCol w="6041520">
                  <a:extLst>
                    <a:ext uri="{9D8B030D-6E8A-4147-A177-3AD203B41FA5}">
                      <a16:colId xmlns:a16="http://schemas.microsoft.com/office/drawing/2014/main" val="2476489099"/>
                    </a:ext>
                  </a:extLst>
                </a:gridCol>
              </a:tblGrid>
              <a:tr h="653802"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Виды деятельности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Функциональные задачи программного продукта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9619887"/>
                  </a:ext>
                </a:extLst>
              </a:tr>
              <a:tr h="1478244">
                <a:tc>
                  <a:txBody>
                    <a:bodyPr/>
                    <a:lstStyle/>
                    <a:p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модулей программного обеспечения для компьютерных систем</a:t>
                      </a:r>
                      <a:endParaRPr lang="ru-RU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Разработана серверная логика на Python/Django (25+ контроллеров, 51 модель данных) и клиентская часть на Vue 3. Реализованы модули регистрации с верификацией email, JWT-аутентификации, управления объектами, заявками и сделками.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34808504"/>
                  </a:ext>
                </a:extLst>
              </a:tr>
              <a:tr h="914250">
                <a:tc>
                  <a:txBody>
                    <a:bodyPr/>
                    <a:lstStyle/>
                    <a:p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Осуществление интеграции программных модулей</a:t>
                      </a:r>
                      <a:endParaRPr lang="ru-RU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Осуществлена интеграция серверной части (Django REST Framework) и клиентской части (SPA на Vue 3) через REST API. Настроено взаимодействие с внешними сервисами: DaData (подсказки адресов), 2ГИС (обогащение данных), Сбербанк (тестовый платёжный шлюз).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60326122"/>
                  </a:ext>
                </a:extLst>
              </a:tr>
              <a:tr h="653802">
                <a:tc>
                  <a:txBody>
                    <a:bodyPr/>
                    <a:lstStyle/>
                    <a:p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Сопровождение и обслуживание программного обеспечения компьютерных систем</a:t>
                      </a:r>
                      <a:endParaRPr lang="ru-RU" sz="12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Разработаны руководства по установке и настройке, а также руководства пользователя для всех ролей: администратор, менеджер, агент, клиент. Реализован модуль резервного копирования и восстановления базы данных.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15231817"/>
                  </a:ext>
                </a:extLst>
              </a:tr>
              <a:tr h="1252213">
                <a:tc>
                  <a:txBody>
                    <a:bodyPr/>
                    <a:lstStyle/>
                    <a:p>
                      <a:r>
                        <a:rPr lang="ru-RU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Соадминистрирование</a:t>
                      </a: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баз данных и серверов</a:t>
                      </a:r>
                      <a:endParaRPr lang="ru-RU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Спроектирована и развернута база данных PostgreSQL (51 таблица, 3НФ). Написаны триггеры и хранимые процедуры на уровне СУБД. Проведено нагрузочное тестирование, подтвердившее работу приложения при нагрузке до 100+ пользователей.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26676623"/>
                  </a:ext>
                </a:extLst>
              </a:tr>
              <a:tr h="653802">
                <a:tc>
                  <a:txBody>
                    <a:bodyPr/>
                    <a:lstStyle/>
                    <a:p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Разработка, администрирование и защита баз данных</a:t>
                      </a:r>
                      <a:endParaRPr lang="ru-RU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Разработана инфологическая и ER-модель базы данных, реализованная через </a:t>
                      </a:r>
                      <a:r>
                        <a:rPr lang="ru-RU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Django</a:t>
                      </a: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ORM. Обеспечена защита данных: хеширование паролей, разграничение прав доступа по ролям с использованием JWT-токенов, защита от SQL-инъекций, ведение журнала аудита действий пользователей.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84815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7958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975</Words>
  <Application>Microsoft Office PowerPoint</Application>
  <PresentationFormat>Широкоэкранный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Проектирование программного продукта</vt:lpstr>
      <vt:lpstr>Проектирование базы данных</vt:lpstr>
      <vt:lpstr>Проектирование  базы данных</vt:lpstr>
      <vt:lpstr>Описание таблиц ER- модели</vt:lpstr>
      <vt:lpstr>Демонстрация дипломного продукта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_Moore.Skrim_</dc:creator>
  <cp:lastModifiedBy>marko.diyas.1990@mail.ru</cp:lastModifiedBy>
  <cp:revision>67</cp:revision>
  <dcterms:created xsi:type="dcterms:W3CDTF">2023-05-28T07:05:17Z</dcterms:created>
  <dcterms:modified xsi:type="dcterms:W3CDTF">2026-06-22T10:20:22Z</dcterms:modified>
</cp:coreProperties>
</file>